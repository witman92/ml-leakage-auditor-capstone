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jpg" ContentType="image/jpg"/>
  <Override PartName="/ppt/media/image3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39" r:id="rId16"/>
    <p:sldId id="340" r:id="rId17"/>
    <p:sldId id="341" r:id="rId18"/>
    <p:sldId id="342" r:id="rId8"/>
    <p:sldId id="343" r:id="rId7"/>
    <p:sldId id="344" r:id="rId6"/>
    <p:sldId id="345" r:id="rId5"/>
    <p:sldId id="346" r:id="rId4"/>
    <p:sldId id="331" r:id="rId19"/>
  </p:sldIdLst>
  <p:sldSz cx="12192000" cy="6858000"/>
  <p:notesSz cx="12192000" cy="68580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Sección predeterminada" id="{C8043C23-E49F-4D38-80B8-BAF543C30EE4}">
          <p14:sldIdLst>
            <p14:sldId id="256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3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>
      <p:cViewPr varScale="1">
        <p:scale>
          <a:sx n="90" d="100"/>
          <a:sy n="90" d="100"/>
        </p:scale>
        <p:origin x="389" y="6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5.xml"/><Relationship Id="rId7" Type="http://schemas.openxmlformats.org/officeDocument/2006/relationships/slide" Target="slides/slide14.xml"/><Relationship Id="rId8" Type="http://schemas.openxmlformats.org/officeDocument/2006/relationships/slide" Target="slides/slide13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2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AEE676-1357-4145-AEA9-FDD66F1F0EE7}" type="datetimeFigureOut">
              <a:rPr lang="es-CL" smtClean="0"/>
              <a:t>26-10-2026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0C98-4115-4418-A3B9-9A103A37F45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58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(30 s) Presentarse. En una frase: los asistentes de IA ya escriben código de Machine Learning completo; este proyecto construye un auditor que encuentra un error silencioso de ese código —la fuga de datos—, mide cuánto infla la métrica y lo repara. El auditor es determinista: nunca usa un LLM para juzgar.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640C98-4115-4418-A3B9-9A103A37F45E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8067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(20 s) Recorrido: el problema y por qué solo la fuga; cómo se decidió el diseño; el protocolo; qué salió; los productos; y qué significa para Capstone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Observación R1 del comité: por qué solo la fuga. Hay siete fallos típicos del código generado; seis son ruidosos (excepción, linter o se detectan repitiendo la corrida). La fuga es el único que no interrumpe la ejecución y además mejora la métrica, por eso es el más peligroso: pasa a producción. Analogía para público no técnico: conocer las preguntas de la evaluación antes de rendirla; la nota sube, pero no mide lo aprendido.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Observación R3: mostrar el mecanismo. Arriba, el mismo escalador en dos lugares. Con fuga, la media y la desviación se calculan con las 569 filas antes de partir: cada pliegue de prueba ya fue visto. Sin fuga, el Pipeline reajusta en cada pliegue con el 80 % de entrenamiento. Abajo los cuatro mecanismos estudiados; la selección es la más grave porque usa la variable objetivo y. SMOTE no se midió porque no es parte de scikit-learn (desviación B2).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Script leakage_demo.py, comentado paso a paso. Panel (a): con datos reales la diferencia es +0,0015 de AUC; la fuga existe pero el AUC ya está en 0,98, no hay margen. Panel (b): control con señal nula, 500 columnas de ruido y etiquetas permutadas; la verdad es 0,5. Con fuga el pipeline reporta 0,571: ese exceso es rendimiento fabricado. Pregunta probable: ¿por qué el eje Y completo? Para no exagerar visualmente diferencias pequeñas.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Cada objetivo tiene un criterio con umbral y un resultado honesto. OE2: 9 de 9 casos con fuga y ningún falso positivo, pero con n = 9 el límite inferior del intervalo exacto es 0,66, así que no se puede afirmar el umbral de 0,80: por eso está a medias. OE4: la reparación funciona en los patrones conocidos (96/96) pero solo en 4 de 9 scripts escritos a mano; en los otros 5 declara «requiere revisión manual» y no toca el código. Los umbrales se fijarán antes de evaluar en Capstone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Criterio 2: argumentar con la literatura, no describirla. Detector: el análisis estático es reproducible pero ciego a valores y alias; la ejecución ve el ajuste real; un LLM juez no sirve como instrumento. Métrica: la validación cruzada anidada corrige la selección de modelos (Varma y Simon, 2006; Cawley y Talbot, 2010) pero no aísla un error concreto del código; la comparación pareada sí. Verdad: el oráculo conoce la etiqueta con certeza, pero hay circularidad (mismo autor del generador y del auditor), por eso los 13 casos manuales. Ambroise y McLachlan (2002) justifican agregar columnas de 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Observación R9. ΔOpt es una intervención pareada: dos versiones idénticas salvo un detalle. Unidades: puntos de la métrica; +0,05 de AUC significa que la fuga infló el AUC en 0,05. Pregunta probable: ¿por qué no la brecha entrenamiento-prueba? Porque un árbol sin poda tiene brecha enorme sin ninguna fuga; mezcla dos fenómenos.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Observaciones R4, R5 y R6. Las 19 etapas del diseño anterior se redujeron a 5, cada una con un script y un archivo de resultados (Tabla 3.1 del informe). Clasificación y regresión supervisadas; clustering queda fuera porque no hay objetivo contra el cual medir optimismo. california_housing se submuestreó a 3.000 filas por el costo de KNNImputer (desviación B1). Las columnas de ruido existen porque la fuga por selección solo aparece si hay variables inútiles entre las cuales elegir.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Observación R2: separar generador y auditor evita el sesgo de autoconfirmación. Analogía: el AST lee la receta; la ejecución mira al cocinero mientras cocina. Cada uno ve cosas que el otro no: el AST no ve alias de importación; la ejecución no ve ajustes parciales (70 % de las filas). El veredicto limpio siempre se acompaña del aviso de alcance.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Primero la honestidad: el 100 % del banco es circular; el generador y el auditor tienen el mismo autor. La prueba real son 13 scripts escritos a mano con estilos que el generador no produce. La regla simple (grep: .fit sin Pipeline) rinde igual que el AST en recall pero con un falso positivo y pierde 24 de 96 fugas en el banco. Los intervalos se solapan: la ventaja del híbrido es una señal que Capstone II debe confirmar con 60 o más scripts, no una mejora demostrada. Clopper-Pearson porque es exacto para muestras pequeñas.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Tres hechos. (1) Clasificación: ΔOpt prácticamente nulo por efecto techo. (2) Regresión: aparece optimismo, concentrado en la selección con california_housing (R² 0,615 → 0,689 en MLP). (3) Escalado en árboles: máximo 0,0002, porque una transformación monótona no cambia los cortes de un árbol. La MLP en regresión tiene el mayor ΔOpt medio (0,0169; IC bootstrap [0,0027; 0,0346]), pero con 8 pruebas el ajuste de Holm sube su p a 0,297: se reporta como exploratorio. Un par degenerado (MLP divergió) se excluyó con una regla definida después de verlo; se declara.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Como la selección casi no inflaba el AUC, había que comprobar que ΔOpt detecta la fuga cuando importa. Fila superior: etiquetas reales, curvas planas: con 8 variables muy informativas el selector nunca elige ruido. Fila inferior: etiquetas permutadas; la verdad es AUC 0,5, y ΔOpt crece con el ruido hasta +0,20. Implicancia: para Capstone II se reformula OE3 como ΔOpt condicionado a la señal/ruido.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Observaciones R7 y R8. Las Skills sirven a quien trabaja con un agente; la web a quien no. Comparten el mismo núcleo (03_auditor), así que dan el mismo veredicto. Si hay tiempo, demo en vivo de la web con el ejemplo 03 (SelectKBest antes de la validación cruzada): marca la línea, repara y muestra el diff. Ética: datos públicos y anonimizados de scikit-learn sin fines clínicos; el código de LLM se ejecutará solo en contenedor sin red. Falta una prueba de uso con personas (Capstone II).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(1,5 min) Este es el criterio 5: decir con palabras propias qué significan los resultados y qué se ajusta. Ninguna afirmación va más allá de la evidencia: el 9/9 tiene un intervalo amplio, la MLP no sobrevive a Holm, el banco es circular. Limitaciones de datos: seis datasets clásicos que los LLM probablemente conocen, submuestreo de california y efecto techo.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(1 min) Responder la pregunta de investigación en tres partes: detectar sí, reparar parcialmente, cuantificar sí con matices. Cerrar: el instrumento está listo y es reproducible; el siguiente ciclo lo aplica a código de LLM reales con umbrales fijados de antemano.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Agradecer y abrir preguntas. Preguntas probables: (1) ¿Por qué el 100 % del banco no vale? Circularidad. (2) ¿Por qué no un LLM como juez? Reproducibilidad y sesgo de autopreferencia. (3) ¿Qué no detecta? Fugas temporales, de dominio, duplicados, alias, exec. (4) ¿Por qué ΔOpt ≈ 0 en clasificación? Efecto techo y señal fuerte; el control positivo muestra que sí mide cuando importa. (5) ¿Qué es Holm? Ajuste escalonado de los valores p cuando se hacen varias pruebas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6604000"/>
            <a:ext cx="9143995" cy="253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360363" y="67331"/>
            <a:ext cx="1958403" cy="55335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7012317" cy="64993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-3174" y="39528"/>
            <a:ext cx="6692399" cy="132723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0300" y="1543840"/>
            <a:ext cx="11273155" cy="299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0" i="0">
                <a:solidFill>
                  <a:srgbClr val="25252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jp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76200"/>
            <a:ext cx="12192000" cy="6781801"/>
            <a:chOff x="0" y="406400"/>
            <a:chExt cx="12192000" cy="6452235"/>
          </a:xfrm>
        </p:grpSpPr>
        <p:sp>
          <p:nvSpPr>
            <p:cNvPr id="4" name="object 4"/>
            <p:cNvSpPr/>
            <p:nvPr/>
          </p:nvSpPr>
          <p:spPr>
            <a:xfrm>
              <a:off x="0" y="6565900"/>
              <a:ext cx="12192000" cy="292735"/>
            </a:xfrm>
            <a:custGeom>
              <a:avLst/>
              <a:gdLst/>
              <a:ahLst/>
              <a:cxnLst/>
              <a:rect l="l" t="t" r="r" b="b"/>
              <a:pathLst>
                <a:path w="12192000" h="292734">
                  <a:moveTo>
                    <a:pt x="12191999" y="292199"/>
                  </a:moveTo>
                  <a:lnTo>
                    <a:pt x="0" y="29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921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34400" y="406400"/>
              <a:ext cx="3175000" cy="1014958"/>
            </a:xfrm>
            <a:prstGeom prst="rect">
              <a:avLst/>
            </a:prstGeom>
          </p:spPr>
        </p:pic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5D96B64-8645-CE35-DA95-6E4FCA40EA02}"/>
              </a:ext>
            </a:extLst>
          </p:cNvPr>
          <p:cNvSpPr txBox="1"/>
          <p:nvPr/>
        </p:nvSpPr>
        <p:spPr>
          <a:xfrm>
            <a:off x="7223760" y="5551928"/>
            <a:ext cx="47548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Profesor Guía: Francisco Pérez.</a:t>
            </a:r>
          </a:p>
          <a:p>
            <a:r>
              <a:rPr lang="es-CL" b="1" dirty="0"/>
              <a:t>Alumno : Witman Zavala M.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1600200"/>
            <a:ext cx="10515600" cy="1463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3800" b="1" i="0">
                <a:solidFill>
                  <a:srgbClr val="333333"/>
                </a:solidFill>
                <a:latin typeface="Calibri"/>
              </a:rPr>
              <a:t>Auditoría y prevención de fuga de datos en pipelines de Machine Learning generados por 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10515600" cy="8229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4A7AA7"/>
                </a:solidFill>
                <a:latin typeface="Calibri"/>
              </a:rPr>
              <a:t>Detectar, medir y reparar: un auditor determinista (AST + ejecución) y el Sesgo de Optimismo ΔOpt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 i="0">
                <a:solidFill>
                  <a:srgbClr val="5A6472"/>
                </a:solidFill>
                <a:latin typeface="Calibri"/>
              </a:rPr>
              <a:t>Magíster en Data Science · Capstone Project I · Entrega final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5D7568BB-FEF7-9C32-9D39-58FD7EA9F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F22992DD-A896-2881-2812-AB9E4CAEB9AA}"/>
              </a:ext>
            </a:extLst>
          </p:cNvPr>
          <p:cNvGrpSpPr/>
          <p:nvPr/>
        </p:nvGrpSpPr>
        <p:grpSpPr>
          <a:xfrm>
            <a:off x="0" y="96901"/>
            <a:ext cx="12192000" cy="6761480"/>
            <a:chOff x="0" y="96901"/>
            <a:chExt cx="12192000" cy="676148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617D5703-D626-A866-2BA6-1B6BA5491A1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96901"/>
              <a:ext cx="4598248" cy="6500450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2A48E31-C73E-1485-EC0C-6C8026639AF9}"/>
                </a:ext>
              </a:extLst>
            </p:cNvPr>
            <p:cNvSpPr/>
            <p:nvPr/>
          </p:nvSpPr>
          <p:spPr>
            <a:xfrm>
              <a:off x="0" y="6565900"/>
              <a:ext cx="12192000" cy="292735"/>
            </a:xfrm>
            <a:custGeom>
              <a:avLst/>
              <a:gdLst/>
              <a:ahLst/>
              <a:cxnLst/>
              <a:rect l="l" t="t" r="r" b="b"/>
              <a:pathLst>
                <a:path w="12192000" h="292734">
                  <a:moveTo>
                    <a:pt x="12191999" y="292199"/>
                  </a:moveTo>
                  <a:lnTo>
                    <a:pt x="0" y="2921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921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C4B36EB0-6559-6054-6B39-C9D5733A25AF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483600" y="406400"/>
              <a:ext cx="3060701" cy="863599"/>
            </a:xfrm>
            <a:prstGeom prst="rect">
              <a:avLst/>
            </a:prstGeom>
          </p:spPr>
        </p:pic>
      </p:grp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1CEB785D-DBBB-3A8A-8812-08CFBCBB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67200" y="2717555"/>
            <a:ext cx="6187017" cy="142289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s-ES" b="1" dirty="0"/>
              <a:t>¡¡Muchas gracias por su atención¡¡</a:t>
            </a:r>
            <a:br>
              <a:rPr lang="es-ES" dirty="0"/>
            </a:br>
            <a:r>
              <a:rPr lang="es-ES" b="1" dirty="0"/>
              <a:t>        </a:t>
            </a:r>
            <a:endParaRPr lang="es-CL" b="1" dirty="0"/>
          </a:p>
        </p:txBody>
      </p:sp>
    </p:spTree>
    <p:extLst>
      <p:ext uri="{BB962C8B-B14F-4D97-AF65-F5344CB8AC3E}">
        <p14:creationId xmlns:p14="http://schemas.microsoft.com/office/powerpoint/2010/main" val="3011263663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" y="19202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920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8288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22585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Fallos ruidosos vs. el fallo silencioso de la fuga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916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0" y="19202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8288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Fundamentación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22585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Alternativas y decisiones de diseño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0632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05840" y="32918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918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32004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Metodología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6301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Protocolo en 5 fases y arquitectura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0632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83680" y="32918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2918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32004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Resultados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6301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Eficacia del auditor y Sesgo de Optimismo ΔOpt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4348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" y="46634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74519" y="45720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Productos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0017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Dos Skills, plataforma web y uso responsable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434840"/>
            <a:ext cx="5120640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583680" y="4663440"/>
            <a:ext cx="640080" cy="640080"/>
          </a:xfrm>
          <a:prstGeom prst="ellipse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663440"/>
            <a:ext cx="64008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4572000"/>
            <a:ext cx="39319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D3748"/>
                </a:solidFill>
                <a:latin typeface="Calibri"/>
              </a:rPr>
              <a:t>Cierre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001768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Interpretación, riesgos y Capstone 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El problema: código que corre sin errores… y miente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56616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1. Los LLM ya programan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329184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Los asistentes de IA escriben pipelines completos: cargan datos, preprocesan, entrenan y reportan una métrica.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566160" cy="82296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317"/>
                </a:solidFill>
                <a:latin typeface="Calibri"/>
              </a:rPr>
              <a:t>2. Fallos ruidosos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258568"/>
            <a:ext cx="329184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Sintaxis, APIs inexistentes, dimensiones, memoria: el intérprete se detiene con un error. Nadie despliega un modelo que no corre.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00200"/>
            <a:ext cx="3566160" cy="2606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566160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3. Fallo silencioso: la fuga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58568"/>
            <a:ext cx="3291840" cy="18745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El preprocesamiento «ve» las filas de prueba. El script corre de punta a punta y la métrica sale inflada: nadie la cuestiona.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1091672" cy="12344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62272"/>
            <a:ext cx="10698480" cy="10972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E6A1F"/>
                </a:solidFill>
                <a:latin typeface="Calibri"/>
              </a:rPr>
              <a:t>Pregunta de investigación: ¿se puede detectar automáticamente la fuga de preprocesamiento en pipelines de scikit-learn, repararla sin cambiar el modelo y cuantificar cuánto optimismo introduce?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Evidencia de que importa: 294 artículos afectados por fuga en 17 campos científicos (Kapoor y Narayanan, 2023).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¿Cómo se fugan los datos? Misma operación, dos lugares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55448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5A47"/>
                </a:solidFill>
                <a:latin typeface="Calibri"/>
              </a:rPr>
              <a:t>✗ Con fuga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5120640" cy="1783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X_esc = StandardScaler().fit_transform(X)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 el escalador vio TODAS las filas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cross_val_score(modelo, X_esc, y, cv=5)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53912" y="1554480"/>
            <a:ext cx="5486400" cy="233172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6792" y="1645920"/>
            <a:ext cx="51206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9A5F"/>
                </a:solidFill>
                <a:latin typeface="Calibri"/>
              </a:rPr>
              <a:t>✓ Sin fuga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36792" y="2057400"/>
            <a:ext cx="5120640" cy="178307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pipe = Pipeline([("esc", StandardScaler()),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                 ("modelo", modelo)])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cross_val_score(pipe, X, y, cv=5)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onsolas"/>
              </a:rPr>
              <a:t># en cada pliegue .fit() ve solo el entrenamiento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6908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4069080"/>
            <a:ext cx="82296" cy="155448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133088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Escalado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544568"/>
            <a:ext cx="23774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Media y varianza incluyen filas de prueba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46704" y="406908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46704" y="4069080"/>
            <a:ext cx="82296" cy="155448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75304" y="4133088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317"/>
                </a:solidFill>
                <a:latin typeface="Calibri"/>
              </a:rPr>
              <a:t>Imputación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75304" y="4544568"/>
            <a:ext cx="23774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KNNImputer copia valores de vecinos de prueba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406908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4069080"/>
            <a:ext cx="82296" cy="155448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73368" y="4133088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Selección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3368" y="4544568"/>
            <a:ext cx="23774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SelectKBest mira las etiquetas de todas las filas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42832" y="4069080"/>
            <a:ext cx="2697480" cy="15544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2832" y="4069080"/>
            <a:ext cx="82296" cy="1554480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71432" y="4133088"/>
            <a:ext cx="23774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5A6472"/>
                </a:solidFill>
                <a:latin typeface="Calibri"/>
              </a:rPr>
              <a:t>Combinada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4544568"/>
            <a:ext cx="237744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Los tres mecanismos a la vez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La regla: todo lo que «aprende» de los datos (.fit) debe ajustarse solo con el entrenamiento de cada pliegue.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Ejemplo: el mismo pipeline con y sin fuga</a:t>
            </a:r>
          </a:p>
        </p:txBody>
      </p:sp>
      <p:pic>
        <p:nvPicPr>
          <p:cNvPr id="3" name="Picture 2" descr="fig_leakag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00200"/>
            <a:ext cx="7315200" cy="30723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092440" y="1600200"/>
            <a:ext cx="3547872" cy="10058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92440" y="1600200"/>
            <a:ext cx="73152" cy="100584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75319" y="1636776"/>
            <a:ext cx="327355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A7AA7"/>
                </a:solidFill>
                <a:latin typeface="Calibri"/>
              </a:rPr>
              <a:t>ΔOpt = +0,0015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5319" y="2130552"/>
            <a:ext cx="3273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Señal real (breast_cancer): casi invisible, efecto techo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743200"/>
            <a:ext cx="3547872" cy="10058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92440" y="2743200"/>
            <a:ext cx="73152" cy="100584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19" y="2779776"/>
            <a:ext cx="327355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05A47"/>
                </a:solidFill>
                <a:latin typeface="Calibri"/>
              </a:rPr>
              <a:t>ΔOpt = +0,048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19" y="3273552"/>
            <a:ext cx="3273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Señal nula: AUC 0,571 con fuga vs. 0,523 sin fuga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3886200"/>
            <a:ext cx="3547872" cy="100584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3886200"/>
            <a:ext cx="73152" cy="1005840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3922776"/>
            <a:ext cx="327355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5A6472"/>
                </a:solidFill>
                <a:latin typeface="Calibri"/>
              </a:rPr>
              <a:t>Verdad = 0,5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19" y="4416552"/>
            <a:ext cx="3273552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Etiquetas permutadas: nada predice nada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46320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KNNImputer + StandardScaler + SelectKBest + MLP · mismos 5 pliegues (semilla 42) · leakage_demo.py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Con señal fuerte la fuga existe pero no se ve; con señal débil fabrica rendimiento que no existe.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Objetivos verificables y criterios de éxito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600200" y="150876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Objetivo específico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150876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Criterio (umbral)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508760"/>
            <a:ext cx="23774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Resultado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11091672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914400" cy="82296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874519"/>
            <a:ext cx="914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OE1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74519"/>
            <a:ext cx="4937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Formalizar los mecanismos de fuga y distinguirlos de los fallos ruidosos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874519"/>
            <a:ext cx="25603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96 pares con y sin fuga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81160" y="1874519"/>
            <a:ext cx="23317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7AA7"/>
                </a:solidFill>
                <a:latin typeface="Calibri"/>
              </a:rPr>
              <a:t>✔ Cumplido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816352"/>
            <a:ext cx="11091672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816352"/>
            <a:ext cx="914400" cy="822960"/>
          </a:xfrm>
          <a:prstGeom prst="roundRect">
            <a:avLst>
              <a:gd name="adj" fmla="val 5000"/>
            </a:avLst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816352"/>
            <a:ext cx="914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OE2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816352"/>
            <a:ext cx="4937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Auditor determinista (AST + ejecución) medido contra verdad conocida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16352"/>
            <a:ext cx="25603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Recall independiente ≥ 0,80 y 0 FP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81160" y="2816352"/>
            <a:ext cx="23317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05A47"/>
                </a:solidFill>
                <a:latin typeface="Calibri"/>
              </a:rPr>
              <a:t>◐ 9/9, IC95 [0,66; 1,00]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758183"/>
            <a:ext cx="11091672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758183"/>
            <a:ext cx="914400" cy="822960"/>
          </a:xfrm>
          <a:prstGeom prst="roundRect">
            <a:avLst>
              <a:gd name="adj" fmla="val 5000"/>
            </a:avLst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758183"/>
            <a:ext cx="914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OE3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3758183"/>
            <a:ext cx="4937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Cuantificar ΔOpt por tipo de fuga y 4 familias en 6 datasets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758183"/>
            <a:ext cx="25603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H-esc.: |ΔOpt| &lt; 0,001 en árboles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758183"/>
            <a:ext cx="23317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317"/>
                </a:solidFill>
                <a:latin typeface="Calibri"/>
              </a:rPr>
              <a:t>✔ máx. 0,0002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700016"/>
            <a:ext cx="11091672" cy="8229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700016"/>
            <a:ext cx="914400" cy="822960"/>
          </a:xfrm>
          <a:prstGeom prst="roundRect">
            <a:avLst>
              <a:gd name="adj" fmla="val 5000"/>
            </a:avLst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700016"/>
            <a:ext cx="91440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OE4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700016"/>
            <a:ext cx="493776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Dos Agent Skills y una plataforma web; reparación automática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4700016"/>
            <a:ext cx="25603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Reparación ≥ 90 % de scripts con fuga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4700016"/>
            <a:ext cx="233172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9A5F"/>
                </a:solidFill>
                <a:latin typeface="Calibri"/>
              </a:rPr>
              <a:t>◐ 96/96 banco · 4/9 manual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Objetivo general: detectar, reparar y medir la fuga de datos en pipelines supervisados de scikit-learn.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Fundamentación: tres decisiones, tres alternativas descartadas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56616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Detector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2D3748"/>
                </a:solidFill>
                <a:latin typeface="Calibri"/>
              </a:rPr>
              <a:t>Elegido: AST + ejecución (determinista)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Descartado: LLM como juez — prefiere sus propias respuestas y varía entre corridas (Zheng et al., 2023).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566160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Métrica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258568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2D3748"/>
                </a:solidFill>
                <a:latin typeface="Calibri"/>
              </a:rPr>
              <a:t>Elegido: ΔOpt pareado, mismos pliegues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Descartado: brecha de generalización — mide sobreajuste, que existe aun sin fuga.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0020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566160" cy="82296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317"/>
                </a:solidFill>
                <a:latin typeface="Calibri"/>
              </a:rPr>
              <a:t>Verdad de referencia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58568"/>
            <a:ext cx="329184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>
                <a:solidFill>
                  <a:srgbClr val="2D3748"/>
                </a:solidFill>
                <a:latin typeface="Calibri"/>
              </a:rPr>
              <a:t>Elegido: oráculo programático + 13 casos manuales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Descartado: anotadores humanos — subjetivos (y el comité pidió evitarlos).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11091672" cy="109728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553712"/>
            <a:ext cx="10698480" cy="10515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E6A1F"/>
                </a:solidFill>
                <a:latin typeface="Calibri"/>
              </a:rPr>
              <a:t>Brecha: 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los detectores existentes (Yang et al., 2022; Drobnjaković et al., 2024; AlOmar et al., 2025) son estáticos, se validaron con código humano y no miden el daño ni reparan.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Un instrumento de medición debe dar el mismo veredicto en cada corrida y no tener interés en el resultado.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La métrica: Sesgo de Optimismo Inducido por Fuga (ΔOpt)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691640"/>
            <a:ext cx="3017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D3748"/>
                </a:solidFill>
                <a:latin typeface="Calibri"/>
              </a:rPr>
              <a:t>Pipeline CON fuga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40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E05A47"/>
                </a:solidFill>
                <a:latin typeface="Calibri"/>
              </a:rPr>
              <a:t>M_leaky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preprocesamiento con todas las filas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931920" y="2514600"/>
            <a:ext cx="548640" cy="41148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17720" y="1691640"/>
            <a:ext cx="3017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78308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D3748"/>
                </a:solidFill>
                <a:latin typeface="Calibri"/>
              </a:rPr>
              <a:t>Pipeline SIN fuga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3C9A5F"/>
                </a:solidFill>
                <a:latin typeface="Calibri"/>
              </a:rPr>
              <a:t>M_clean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01752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preprocesamiento dentro de Pipeline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26680" y="2514600"/>
            <a:ext cx="548640" cy="41148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1691640"/>
            <a:ext cx="301752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783080"/>
            <a:ext cx="301752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D3748"/>
                </a:solidFill>
                <a:latin typeface="Calibri"/>
              </a:rPr>
              <a:t>Sesgo de optimismo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40280"/>
            <a:ext cx="301752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EE6A1F"/>
                </a:solidFill>
                <a:latin typeface="Calibri"/>
              </a:rPr>
              <a:t>ΔOpt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017520"/>
            <a:ext cx="30175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0">
                <a:solidFill>
                  <a:srgbClr val="5A6472"/>
                </a:solidFill>
                <a:latin typeface="Calibri"/>
              </a:rPr>
              <a:t>= M_leaky − M_clean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10515600" cy="16002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041648"/>
            <a:ext cx="10424160" cy="1508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Mismo dataset · mismos 5 pliegues (semilla 42) · mismo modelo · mismos hiperparámetros.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Solo cambia DÓNDE se ajusta el preprocesamiento → la diferencia es causalmente atribuible a la fuga.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2D3748"/>
                </a:solidFill>
                <a:latin typeface="Calibri"/>
              </a:rPr>
              <a:t>Sin fuga, ΔOpt = 0 por identidad. ROC-AUC en clasificación, R² en regresión.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Reemplaza a la «brecha de generalización auditada», que se confundía con el sobreajuste (observación R9).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Metodología: protocolo en cinco fases deterministas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2057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205740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4A7AA7"/>
                </a:solidFill>
                <a:latin typeface="Calibri"/>
              </a:rPr>
              <a:t>Fase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3748"/>
                </a:solidFill>
                <a:latin typeface="Calibri"/>
              </a:rPr>
              <a:t>Banco de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06040"/>
            <a:ext cx="1874519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96 pares con y sin fuga (oráculo programático)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1600200"/>
            <a:ext cx="2057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07208" y="1600200"/>
            <a:ext cx="2057400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8648" y="173736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05A47"/>
                </a:solidFill>
                <a:latin typeface="Calibri"/>
              </a:rPr>
              <a:t>Fase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1031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3748"/>
                </a:solidFill>
                <a:latin typeface="Calibri"/>
              </a:rPr>
              <a:t>Auditoría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8648" y="2606040"/>
            <a:ext cx="1874519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AST + verificación en ejecución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1600200"/>
            <a:ext cx="2057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65776" y="1600200"/>
            <a:ext cx="2057400" cy="82296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173736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8A317"/>
                </a:solidFill>
                <a:latin typeface="Calibri"/>
              </a:rPr>
              <a:t>Fase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57216" y="21031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3748"/>
                </a:solidFill>
                <a:latin typeface="Calibri"/>
              </a:rPr>
              <a:t>Eficacia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57216" y="2606040"/>
            <a:ext cx="1874519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Precisión, recall, VPN vs. verdad y línea base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344" y="1600200"/>
            <a:ext cx="2057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24344" y="1600200"/>
            <a:ext cx="2057400" cy="82296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73736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C9A5F"/>
                </a:solidFill>
                <a:latin typeface="Calibri"/>
              </a:rPr>
              <a:t>Fase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15783" y="21031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3748"/>
                </a:solidFill>
                <a:latin typeface="Calibri"/>
              </a:rPr>
              <a:t>Sesgo ΔOpt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5783" y="2606040"/>
            <a:ext cx="1874519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Por par, pruebas por familia, control positivo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1600200"/>
            <a:ext cx="2057400" cy="2103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82912" y="1600200"/>
            <a:ext cx="2057400" cy="82296"/>
          </a:xfrm>
          <a:prstGeom prst="rect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173736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E6A1F"/>
                </a:solidFill>
                <a:latin typeface="Calibri"/>
              </a:rPr>
              <a:t>Fase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2103120"/>
            <a:ext cx="1874519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D3748"/>
                </a:solidFill>
                <a:latin typeface="Calibri"/>
              </a:rPr>
              <a:t>Empaquetado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74352" y="2606040"/>
            <a:ext cx="1874519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2 Skills + plataforma web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93192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931920"/>
            <a:ext cx="73152" cy="114300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968496"/>
            <a:ext cx="2423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4A7AA7"/>
                </a:solidFill>
                <a:latin typeface="Calibri"/>
              </a:rPr>
              <a:t>6 datasets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462272"/>
            <a:ext cx="24231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nativos de sklearn: 3 clasificación + 3 regresión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46704" y="393192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346704" y="3931920"/>
            <a:ext cx="73152" cy="1143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29584" y="3968496"/>
            <a:ext cx="2423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05A47"/>
                </a:solidFill>
                <a:latin typeface="Calibri"/>
              </a:rPr>
              <a:t>4 familias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9584" y="4462272"/>
            <a:ext cx="24231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RandomForest · HistGB · Lineal · MLP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393192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44768" y="3931920"/>
            <a:ext cx="73152" cy="114300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3968496"/>
            <a:ext cx="2423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8A317"/>
                </a:solidFill>
                <a:latin typeface="Calibri"/>
              </a:rPr>
              <a:t>4 fugas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27648" y="4462272"/>
            <a:ext cx="24231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escalado · imputación · selección · combinada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942832" y="3931920"/>
            <a:ext cx="2697480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42832" y="3931920"/>
            <a:ext cx="73152" cy="1143000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1" y="3968496"/>
            <a:ext cx="242316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C9A5F"/>
                </a:solidFill>
                <a:latin typeface="Calibri"/>
              </a:rPr>
              <a:t>192 scripts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25711" y="4462272"/>
            <a:ext cx="242316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= 6 × 4 × 4 pares × 2 versiones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Fase 0: EDA de calidad (0 duplicados, atípicos ≤ 1,24 %), 10 % de faltantes simulados y 50 columnas de ruido. Todo con semilla 42 y un comando: python run_all.py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Sin anotadores humanos: la etiqueta «con fuga / sin fuga» se conoce por construcción (observación R5).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Arquitectura: quién genera y quién audita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377440"/>
            <a:ext cx="2011680" cy="1463040"/>
          </a:xfrm>
          <a:prstGeom prst="roundRect">
            <a:avLst>
              <a:gd name="adj" fmla="val 5000"/>
            </a:avLst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2011680" cy="14630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Script de ML</a:t>
            </a:r>
          </a:p>
          <a:p>
            <a:pPr algn="ctr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(banco, manual o LLM)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1828800"/>
            <a:ext cx="548640" cy="36576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Arrow 5"/>
          <p:cNvSpPr/>
          <p:nvPr/>
        </p:nvSpPr>
        <p:spPr>
          <a:xfrm>
            <a:off x="2651760" y="4023360"/>
            <a:ext cx="548640" cy="36576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463040"/>
            <a:ext cx="3566160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356616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62763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AST (estático)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121408"/>
            <a:ext cx="3291840" cy="1051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Lee sin ejecutar. Reglas R-Split, R-CV y R-Test sobre el orden de .fit y la partición.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3520440"/>
            <a:ext cx="3566160" cy="187451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3520440"/>
            <a:ext cx="3566160" cy="82296"/>
          </a:xfrm>
          <a:prstGeom prst="rect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9000" y="368503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E6A1F"/>
                </a:solidFill>
                <a:latin typeface="Calibri"/>
              </a:rPr>
              <a:t>Ejecución (dinámico)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178808"/>
            <a:ext cx="3291840" cy="114299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Cuenta con cuántas filas se ajusta cada transformador: si son todas, vio la prueba.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995160" y="2880360"/>
            <a:ext cx="548640" cy="457200"/>
          </a:xfrm>
          <a:prstGeom prst="rightArrow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680960" y="1463040"/>
            <a:ext cx="3959352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463040"/>
            <a:ext cx="82296" cy="11887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09560" y="1527048"/>
            <a:ext cx="3639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FUGA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1938528"/>
            <a:ext cx="363931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Basta que UNO de los dos la detecte (híbrido)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807208"/>
            <a:ext cx="3959352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80960" y="2807208"/>
            <a:ext cx="82296" cy="1188720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09560" y="2871215"/>
            <a:ext cx="3639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C9A5F"/>
                </a:solidFill>
                <a:latin typeface="Calibri"/>
              </a:rPr>
              <a:t>0 FUGAS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282696"/>
            <a:ext cx="363931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Sin evidencia de las 3 reglas — no «sin ninguna fuga»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80960" y="4151376"/>
            <a:ext cx="3959352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80960" y="4151376"/>
            <a:ext cx="82296" cy="11887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09560" y="4215384"/>
            <a:ext cx="3639312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8A317"/>
                </a:solidFill>
                <a:latin typeface="Calibri"/>
              </a:rPr>
              <a:t>REPARACIÓN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626864"/>
            <a:ext cx="3639312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2D3748"/>
                </a:solidFill>
                <a:latin typeface="Calibri"/>
              </a:rPr>
              <a:t>Encierra en Pipeline sin cambiar modelo ni pliegues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Los LLM son solo sujetos de estudio (Capstone II). Ningún LLM participa en la medición.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Resultados: ¿qué tan bien detecta el auditor?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73152" cy="1051560"/>
          </a:xfrm>
          <a:prstGeom prst="rect">
            <a:avLst/>
          </a:prstGeom>
          <a:solidFill>
            <a:srgbClr val="5A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36776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5A6472"/>
                </a:solidFill>
                <a:latin typeface="Calibri"/>
              </a:rPr>
              <a:t>192 / 192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30552"/>
            <a:ext cx="3291840" cy="5029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Banco de control — evaluación CIRCULAR, no prueba generalización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73152" cy="1051560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98848" y="1636776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3C9A5F"/>
                </a:solidFill>
                <a:latin typeface="Calibri"/>
              </a:rPr>
              <a:t>9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2130552"/>
            <a:ext cx="3291840" cy="5029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Híbrido en 13 scripts manuales · 0 falsos positivos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00200"/>
            <a:ext cx="3566160" cy="105156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73152" cy="105156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1636776"/>
            <a:ext cx="32918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8A317"/>
                </a:solidFill>
                <a:latin typeface="Calibri"/>
              </a:rPr>
              <a:t>[0,66; 1,00]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5" y="2130552"/>
            <a:ext cx="3291840" cy="50291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IC95 % exacto del recall híbrido (n = 9)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34640"/>
            <a:ext cx="11091672" cy="457200"/>
          </a:xfrm>
          <a:prstGeom prst="rect">
            <a:avLst/>
          </a:prstGeom>
          <a:solidFill>
            <a:srgbClr val="2D37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83464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Detector (13 manuales)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Detecta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834640"/>
            <a:ext cx="1554480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Falsos 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834640"/>
            <a:ext cx="3319272" cy="4572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Recall [IC95 %]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291840"/>
            <a:ext cx="3931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Regla simple (línea base)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3291840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8/9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91840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91840"/>
            <a:ext cx="3319272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0,89 [0,52; 1,00]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858768"/>
            <a:ext cx="3931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Solo AST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858768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8/9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858768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858768"/>
            <a:ext cx="3319272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0,89 [0,52; 1,00]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425696"/>
            <a:ext cx="3931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Solo ejecución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425696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7/9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425696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425696"/>
            <a:ext cx="3319272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3748"/>
                </a:solidFill>
                <a:latin typeface="Calibri"/>
              </a:rPr>
              <a:t>0,78 [0,40; 0,97]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9262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992624"/>
            <a:ext cx="3931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9A5F"/>
                </a:solidFill>
                <a:latin typeface="Calibri"/>
              </a:rPr>
              <a:t>Híbrido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992624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9A5F"/>
                </a:solidFill>
                <a:latin typeface="Calibri"/>
              </a:rPr>
              <a:t>9/9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992624"/>
            <a:ext cx="155448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9A5F"/>
                </a:solidFill>
                <a:latin typeface="Calibri"/>
              </a:rPr>
              <a:t>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992624"/>
            <a:ext cx="3319272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3C9A5F"/>
                </a:solidFill>
                <a:latin typeface="Calibri"/>
              </a:rPr>
              <a:t>1,00 [0,66; 1,00]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El AST falla con el alias «as SS»; la ejecución, con ajustes parciales: fallan en casos distintos → híbrido.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Resultados: ¿cuánto infla la fuga la métrica?</a:t>
            </a:r>
          </a:p>
        </p:txBody>
      </p:sp>
      <p:pic>
        <p:nvPicPr>
          <p:cNvPr id="3" name="Picture 2" descr="fig_delta_op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417320"/>
            <a:ext cx="8778240" cy="28728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43484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4434840"/>
            <a:ext cx="73152" cy="118872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7141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4A7AA7"/>
                </a:solidFill>
                <a:latin typeface="Calibri"/>
              </a:rPr>
              <a:t>≈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6519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Clasificación: |ΔOpt| ≤ 0,0034 (AUC limpio mediano 0,991)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64992" y="443484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64992" y="4434840"/>
            <a:ext cx="73152" cy="118872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47872" y="447141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E05A47"/>
                </a:solidFill>
                <a:latin typeface="Calibri"/>
              </a:rPr>
              <a:t>+0,074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496519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Máximo en regresión: selección, california, MLP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443484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81344" y="4434840"/>
            <a:ext cx="73152" cy="1188720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4224" y="4471416"/>
            <a:ext cx="2377440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3C9A5F"/>
                </a:solidFill>
                <a:latin typeface="Calibri"/>
              </a:rPr>
              <a:t>0,0002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96519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Escalado en árboles: confirma la teoría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97696" y="4434840"/>
            <a:ext cx="2642616" cy="118872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997696" y="4434840"/>
            <a:ext cx="73152" cy="1188720"/>
          </a:xfrm>
          <a:prstGeom prst="rect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0576" y="4471416"/>
            <a:ext cx="2368296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8A317"/>
                </a:solidFill>
                <a:latin typeface="Calibri"/>
              </a:rPr>
              <a:t>p Holm 0,297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965192"/>
            <a:ext cx="2368296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MLP en regresión (p = 0,037 sin corregir)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El efecto es pequeño con datos «fáciles»; la vulnerabilidad de la MLP es exploratoria, no confirmada.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Control positivo: cuando la señal es débil, la fuga sí daña</a:t>
            </a:r>
          </a:p>
        </p:txBody>
      </p:sp>
      <p:pic>
        <p:nvPicPr>
          <p:cNvPr id="3" name="Picture 2" descr="fig_nois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7711440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503920" y="1600200"/>
            <a:ext cx="3136392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03920" y="1600200"/>
            <a:ext cx="73152" cy="1143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1636776"/>
            <a:ext cx="286207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05A47"/>
                </a:solidFill>
                <a:latin typeface="Calibri"/>
              </a:rPr>
              <a:t>+0,20 AUC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130552"/>
            <a:ext cx="2862072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Señal nula, breast_cancer, lineal, 1.000 columnas de ruido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2880360"/>
            <a:ext cx="3136392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503920" y="2880360"/>
            <a:ext cx="73152" cy="11430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916936"/>
            <a:ext cx="286207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E05A47"/>
                </a:solidFill>
                <a:latin typeface="Calibri"/>
              </a:rPr>
              <a:t>+0,26 R²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3410712"/>
            <a:ext cx="2862072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Señal nula, diabetes, lineal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03920" y="4160520"/>
            <a:ext cx="3136392" cy="11430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03920" y="4160520"/>
            <a:ext cx="73152" cy="114300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4197096"/>
            <a:ext cx="2862072" cy="502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4A7AA7"/>
                </a:solidFill>
                <a:latin typeface="Calibri"/>
              </a:rPr>
              <a:t>Plano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690872"/>
            <a:ext cx="2862072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D3748"/>
                </a:solidFill>
                <a:latin typeface="Calibri"/>
              </a:rPr>
              <a:t>Con etiquetas reales ΔOpt no cambia con el ruido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La gravedad depende de la razón señal/ruido, no es una propiedad fija de cada fuga o familia.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Productos: tres vías, un mismo auditor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356616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Skill audit-ml-leakage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58568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Para agentes de programación: audita y repara un script existente; re-audita hasta «0 fugas».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60020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15968" y="1600200"/>
            <a:ext cx="3566160" cy="82296"/>
          </a:xfrm>
          <a:prstGeom prst="rect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3C9A5F"/>
                </a:solidFill>
                <a:latin typeface="Calibri"/>
              </a:rPr>
              <a:t>Skill create-leakage-free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3128" y="2258568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Reglas y plantilla para crear pipelines sin fuga desde el inicio, con autoverificación.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600200"/>
            <a:ext cx="35661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3296" y="1600200"/>
            <a:ext cx="3566160" cy="82296"/>
          </a:xfrm>
          <a:prstGeom prst="rect">
            <a:avLst/>
          </a:prstGeom>
          <a:solidFill>
            <a:srgbClr val="EE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6" y="1764792"/>
            <a:ext cx="32918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E6A1F"/>
                </a:solidFill>
                <a:latin typeface="Calibri"/>
              </a:rPr>
              <a:t>Plataforma web (Streamlit)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6" y="2258568"/>
            <a:ext cx="329184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Pegar o subir un .py, ver líneas en rojo, descargar el código corregido y explorar ΔOpt.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519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251960"/>
            <a:ext cx="82296" cy="1371600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159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Riesgos y medidas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27448"/>
            <a:ext cx="5166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Falsa seguridad → aviso de alcance visible · Código malicioso → la web nunca ejecuta, límite 200.000 caracteres, HTML escapado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53912" y="4251960"/>
            <a:ext cx="5486400" cy="1371600"/>
          </a:xfrm>
          <a:prstGeom prst="roundRect">
            <a:avLst>
              <a:gd name="adj" fmla="val 5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53912" y="4251960"/>
            <a:ext cx="82296" cy="1371600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2" y="4315968"/>
            <a:ext cx="516636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Reproducible y auditable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2512" y="4727448"/>
            <a:ext cx="516636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2D3748"/>
                </a:solidFill>
                <a:latin typeface="Calibri"/>
              </a:rPr>
              <a:t>Repositorio público en GitHub · 40 pruebas automáticas · CLI con código de salida para CI · dos corridas producen archivos idénticos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Repositorio: github.com/witman92/ml-leakage-auditor-capstone  ·  streamlit run 06_web_app/app.py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Interpretación: qué significa para 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002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600200"/>
            <a:ext cx="5486400" cy="82296"/>
          </a:xfrm>
          <a:prstGeom prst="rect">
            <a:avLst/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64792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4A7AA7"/>
                </a:solidFill>
                <a:latin typeface="Calibri"/>
              </a:rPr>
              <a:t>Lo que la evidencia sostiene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286000"/>
            <a:ext cx="52120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El híbrido es más robusto que cada parte; no que sea «casi perfecto».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La fuga fue pequeña porque los datos son fáciles, no porque sea inocua.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Factible como instrumento (detectar, reparar, medir).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Débil como afirmación sobre «qué familia sufre más»: 3 datasets por tarea.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53912" y="1600200"/>
            <a:ext cx="5486400" cy="4023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1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53912" y="1600200"/>
            <a:ext cx="5486400" cy="82296"/>
          </a:xfrm>
          <a:prstGeom prst="rect">
            <a:avLst/>
          </a:prstGeom>
          <a:solidFill>
            <a:srgbClr val="E05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764792"/>
            <a:ext cx="521208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05A47"/>
                </a:solidFill>
                <a:latin typeface="Calibri"/>
              </a:rPr>
              <a:t>Riesgos para Capstone II → ajuste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286000"/>
            <a:ext cx="5212080" cy="3291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Código de LLM más variado → ampliar la prueba independiente a ≥ 60 scripts.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Alias y funciones auxiliares → mejorar el AST y el refactorizador.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Efecto techo → datasets de señal débil; ΔOpt por tramo de señal/ruido.</a:t>
            </a:r>
          </a:p>
          <a:p>
            <a:pPr algn="l">
              <a:spcAft>
                <a:spcPts val="400"/>
              </a:spcAft>
            </a:pPr>
            <a:r>
              <a:rPr sz="1700" b="0">
                <a:solidFill>
                  <a:srgbClr val="2D3748"/>
                </a:solidFill>
                <a:latin typeface="Calibri"/>
              </a:rPr>
              <a:t>• Ejecutar código no confiable → contenedor sin red ni credenciales.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833872"/>
            <a:ext cx="11091672" cy="566928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833872"/>
            <a:ext cx="10789920" cy="56692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OE3 se reformula: estimar ΔOpt condicionado a la razón señal/ruido, no un número único por familia.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D3748"/>
                </a:solidFill>
                <a:latin typeface="Calibri"/>
              </a:rPr>
              <a:t>Conclusiones y próximo paso</a:t>
            </a:r>
          </a:p>
        </p:txBody>
      </p:sp>
      <p:sp>
        <p:nvSpPr>
          <p:cNvPr id="3" name="Oval 2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600200"/>
            <a:ext cx="10332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D3748"/>
                </a:solidFill>
                <a:latin typeface="Calibri"/>
              </a:rPr>
              <a:t>Detectar es posible: el diseño híbrido encontró 9/9 fugas en código escrito a mano.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77440"/>
            <a:ext cx="548640" cy="548640"/>
          </a:xfrm>
          <a:prstGeom prst="ellipse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10332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D3748"/>
                </a:solidFill>
                <a:latin typeface="Calibri"/>
              </a:rPr>
              <a:t>Reparar sin cambiar el modelo funciona en los patrones habituales (96/96; 4/9 manual).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154680"/>
            <a:ext cx="548640" cy="548640"/>
          </a:xfrm>
          <a:prstGeom prst="ellipse">
            <a:avLst/>
          </a:prstGeom>
          <a:solidFill>
            <a:srgbClr val="3C9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15468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54680"/>
            <a:ext cx="10332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D3748"/>
                </a:solidFill>
                <a:latin typeface="Calibri"/>
              </a:rPr>
              <a:t>ΔOpt cuantifica la fuga y la separa del sobreajuste; su magnitud depende de la señal/ruido.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931920"/>
            <a:ext cx="548640" cy="548640"/>
          </a:xfrm>
          <a:prstGeom prst="ellipse">
            <a:avLst/>
          </a:prstGeom>
          <a:solidFill>
            <a:srgbClr val="E8A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931920"/>
            <a:ext cx="1033272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2D3748"/>
                </a:solidFill>
                <a:latin typeface="Calibri"/>
              </a:rPr>
              <a:t>Falta lo esencial: medir la fuga en código de LLM reales (Capstone II).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E6A1F"/>
                </a:solidFill>
                <a:latin typeface="Calibri"/>
              </a:rPr>
              <a:t>Hoja de ruta · Capstone II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2120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6–8 LLM reales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88920" y="52120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88920" y="52120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Contenedor aislado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2120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52120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≥ 60 casos manuales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52120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52120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Señal débil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521208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4A7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0" y="5212080"/>
            <a:ext cx="2103120" cy="64008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Piloto con usuarios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2246</TotalTime>
  <Words>2678</Words>
  <Application>Microsoft Office PowerPoint</Application>
  <PresentationFormat>Panorámica</PresentationFormat>
  <Paragraphs>255</Paragraphs>
  <Slides>18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Aptos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Bootcamp MDS 2025 - 4 (ML)</dc:title>
  <dc:creator>WITMAN ZAVALA</dc:creator>
  <cp:lastModifiedBy>Usuario Lenovo</cp:lastModifiedBy>
  <cp:revision>94</cp:revision>
  <dcterms:created xsi:type="dcterms:W3CDTF">2026-01-16T19:28:02Z</dcterms:created>
  <dcterms:modified xsi:type="dcterms:W3CDTF">2026-10-26T14:57:58Z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2026-01-16T00:00:00Z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2026-01-16T00:00:00Z</vt:filetime>
  </property>
</Properties>
</file>